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3"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A4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14" autoAdjust="0"/>
    <p:restoredTop sz="94660"/>
  </p:normalViewPr>
  <p:slideViewPr>
    <p:cSldViewPr snapToGrid="0">
      <p:cViewPr varScale="1">
        <p:scale>
          <a:sx n="88" d="100"/>
          <a:sy n="88" d="100"/>
        </p:scale>
        <p:origin x="-466"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3BABBC-9E8D-4315-C694-F995015B13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52B6311-1503-035D-6C1F-081CB949AA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AA3C141-EBAE-28C5-70D6-3AA07374E7EA}"/>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5A3BB9E4-886F-A05B-96FC-1336F4972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AEA87C5-3100-D4CB-A84D-634193034DBF}"/>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2770918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9EA1E2-DE9D-A2C4-79B1-FAEC990D45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D5C3A5D-3608-5510-66C5-14748C1A9E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49753F4-A901-54FC-371F-F920CFD0D4F6}"/>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CAD32D8D-E08B-2693-FEA5-0A508E289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F676563-61AC-FDA9-BDBF-B90FC81C7C20}"/>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1166425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AEDDA7-02E1-AAC1-4130-BDDBE162CD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DF0116F-9027-CCA8-5A1E-56BC391D0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3CF332-F734-F9D2-5851-C3934A5AF475}"/>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0BD84CE8-6DD1-E51E-B89B-3C9D5CA963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101129C-05B8-2D31-F8DE-054E1241F42E}"/>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2989709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050816-D67E-E89A-704E-38CF26FC40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5D961E6-1E29-DF51-C16F-45501E77DB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ABC3BCF-F08D-56BD-FCE4-662E6B7B15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FEAFDB3-470D-DC5D-B8CC-28767AC36460}"/>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6" name="Footer Placeholder 5">
            <a:extLst>
              <a:ext uri="{FF2B5EF4-FFF2-40B4-BE49-F238E27FC236}">
                <a16:creationId xmlns:a16="http://schemas.microsoft.com/office/drawing/2014/main" xmlns="" id="{3784F30B-EB3B-2ED0-32F0-620C7FCC6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0BFD665-1E0B-916D-8B92-9DC1E0A89694}"/>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442412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5225DE-C17C-F58E-4BFF-E2D2EF5050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3809D2C-3ACD-1881-1222-00021D121D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F57E066-4F6B-0DF8-4674-449D622664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34CDFDBF-CB33-CBF2-1857-60BE76D57F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44C0E8E-6BEC-33E0-B9E9-F6E7013BB6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233260F-A6D8-871C-A118-28EC37C0E079}"/>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8" name="Footer Placeholder 7">
            <a:extLst>
              <a:ext uri="{FF2B5EF4-FFF2-40B4-BE49-F238E27FC236}">
                <a16:creationId xmlns:a16="http://schemas.microsoft.com/office/drawing/2014/main" xmlns="" id="{41ACD6DB-D0E0-1123-56AD-2FE0A523636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9A9C1E46-11E6-53D7-B5F3-93DD7208A0DA}"/>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125185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3FB9E2-AE87-1982-8060-03814213A6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AC4C798-23E0-A3A4-A32B-C9471FAD30C0}"/>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4" name="Footer Placeholder 3">
            <a:extLst>
              <a:ext uri="{FF2B5EF4-FFF2-40B4-BE49-F238E27FC236}">
                <a16:creationId xmlns:a16="http://schemas.microsoft.com/office/drawing/2014/main" xmlns="" id="{25B98A6F-DE15-B445-E06D-40E7352E16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27710883-EAB8-3257-D4B5-7ED28951D113}"/>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382458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17FFDF5-774C-B3B1-7C43-B703C959BA65}"/>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3" name="Footer Placeholder 2">
            <a:extLst>
              <a:ext uri="{FF2B5EF4-FFF2-40B4-BE49-F238E27FC236}">
                <a16:creationId xmlns:a16="http://schemas.microsoft.com/office/drawing/2014/main" xmlns="" id="{D0F0CA12-FAD4-02B4-8D6A-009110E434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D4FE82F-0E8D-451C-F6EF-AC9FCD056977}"/>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815990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B8D7D1-C6B4-9625-E1F0-156A0CFC7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F4C479F-C155-F186-310C-05C1A25F8F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6F7B82A-9DB1-1717-E125-28A2E9A798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527AC77-DF82-79DC-EE25-3C716864F9AA}"/>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6" name="Footer Placeholder 5">
            <a:extLst>
              <a:ext uri="{FF2B5EF4-FFF2-40B4-BE49-F238E27FC236}">
                <a16:creationId xmlns:a16="http://schemas.microsoft.com/office/drawing/2014/main" xmlns="" id="{4D797CA0-3356-5168-058A-97F55A0B37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B9D43C1-F37C-EC98-A494-6AA3790CA962}"/>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235526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797228-F372-F6E0-A402-B01F93511A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04A6A244-FA45-93E6-301F-1D550B0C3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E905CF7-DB1F-0F33-8281-10F44AAA3B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2C45810-F3B0-092D-89FE-245B6CEADB50}"/>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6" name="Footer Placeholder 5">
            <a:extLst>
              <a:ext uri="{FF2B5EF4-FFF2-40B4-BE49-F238E27FC236}">
                <a16:creationId xmlns:a16="http://schemas.microsoft.com/office/drawing/2014/main" xmlns="" id="{6F2227EB-BBB3-7416-CC34-250AE1CF6E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ABD5B18-8432-4CE7-F212-3384E3AF628B}"/>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4437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83AFBB-ADE4-8107-0A5D-7DFD634FC7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ABDC4BC-CE19-BD98-2ACC-6D6BBBE04E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5F012F9-DF7A-9A90-C881-9D5D3A3B3AC5}"/>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A564DC9D-8F9A-0513-03DD-F4D0C08592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E7FEA0B-6A90-D859-37F7-D5D70207C153}"/>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4244781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7D9C076-73DA-D621-8823-EE9BA69067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2C7CE81-E4B2-51CF-DCCA-C5F3152AB2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D5E4264-207E-7611-CB7F-AB6EB7AADF23}"/>
              </a:ext>
            </a:extLst>
          </p:cNvPr>
          <p:cNvSpPr>
            <a:spLocks noGrp="1"/>
          </p:cNvSpPr>
          <p:nvPr>
            <p:ph type="dt" sz="half" idx="10"/>
          </p:nvPr>
        </p:nvSpPr>
        <p:spPr/>
        <p:txBody>
          <a:body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AA19D07D-8579-F1FA-1A72-D2880A3E6E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ED1D9E8-AFFD-3ACA-48C7-36BD38D082D0}"/>
              </a:ext>
            </a:extLst>
          </p:cNvPr>
          <p:cNvSpPr>
            <a:spLocks noGrp="1"/>
          </p:cNvSpPr>
          <p:nvPr>
            <p:ph type="sldNum" sz="quarter" idx="12"/>
          </p:nvPr>
        </p:nvSpPr>
        <p:spPr/>
        <p:txBody>
          <a:body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2837288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FA0947A-E1E5-E837-6AA7-34E7F7E436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E953AF1-3187-4353-FB01-1AF827FA75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732367D-D431-2820-94B2-B8C50873BF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AB7951-2A55-41FE-9A0B-A499C6155E17}" type="datetimeFigureOut">
              <a:rPr lang="en-IN" smtClean="0"/>
              <a:pPr/>
              <a:t>22-09-2026</a:t>
            </a:fld>
            <a:endParaRPr lang="en-IN"/>
          </a:p>
        </p:txBody>
      </p:sp>
      <p:sp>
        <p:nvSpPr>
          <p:cNvPr id="5" name="Footer Placeholder 4">
            <a:extLst>
              <a:ext uri="{FF2B5EF4-FFF2-40B4-BE49-F238E27FC236}">
                <a16:creationId xmlns:a16="http://schemas.microsoft.com/office/drawing/2014/main" xmlns="" id="{B66FCC94-51D5-2562-DD9A-55AD800C8A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DE6BCE26-DDFE-3796-2A2D-1288A9A5F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1F164E-BE86-4FED-AC99-C92A15ACA9A2}" type="slidenum">
              <a:rPr lang="en-IN" smtClean="0"/>
              <a:pPr/>
              <a:t>‹#›</a:t>
            </a:fld>
            <a:endParaRPr lang="en-IN"/>
          </a:p>
        </p:txBody>
      </p:sp>
    </p:spTree>
    <p:extLst>
      <p:ext uri="{BB962C8B-B14F-4D97-AF65-F5344CB8AC3E}">
        <p14:creationId xmlns:p14="http://schemas.microsoft.com/office/powerpoint/2010/main" xmlns="" val="404540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jovikapokkula-dot" TargetMode="External"/><Relationship Id="rId2" Type="http://schemas.openxmlformats.org/officeDocument/2006/relationships/slide" Target="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C092E1-C4CF-19A1-4201-68EFAFC2E348}"/>
              </a:ext>
            </a:extLst>
          </p:cNvPr>
          <p:cNvSpPr>
            <a:spLocks noGrp="1"/>
          </p:cNvSpPr>
          <p:nvPr>
            <p:ph type="ctrTitle"/>
          </p:nvPr>
        </p:nvSpPr>
        <p:spPr>
          <a:xfrm>
            <a:off x="0" y="789586"/>
            <a:ext cx="12303046" cy="1751855"/>
          </a:xfrm>
          <a:ln>
            <a:noFill/>
          </a:ln>
        </p:spPr>
        <p:txBody>
          <a:bodyPr>
            <a:normAutofit/>
          </a:bodyPr>
          <a:lstStyle/>
          <a:p>
            <a:r>
              <a:rPr lang="en-IN" sz="6600" dirty="0">
                <a:solidFill>
                  <a:schemeClr val="bg2"/>
                </a:solidFill>
                <a:latin typeface="Times New Roman" panose="02020603050405020304" pitchFamily="18" charset="0"/>
                <a:cs typeface="Times New Roman" panose="02020603050405020304" pitchFamily="18" charset="0"/>
              </a:rPr>
              <a:t>Rooftop Solar Energy Monitor</a:t>
            </a:r>
          </a:p>
        </p:txBody>
      </p:sp>
      <p:sp>
        <p:nvSpPr>
          <p:cNvPr id="3" name="Subtitle 2">
            <a:extLst>
              <a:ext uri="{FF2B5EF4-FFF2-40B4-BE49-F238E27FC236}">
                <a16:creationId xmlns:a16="http://schemas.microsoft.com/office/drawing/2014/main" xmlns="" id="{70D18563-83AF-7216-9813-EEE9124FF0B1}"/>
              </a:ext>
            </a:extLst>
          </p:cNvPr>
          <p:cNvSpPr>
            <a:spLocks noGrp="1"/>
          </p:cNvSpPr>
          <p:nvPr>
            <p:ph type="subTitle" idx="1"/>
          </p:nvPr>
        </p:nvSpPr>
        <p:spPr>
          <a:xfrm>
            <a:off x="1466675" y="4386376"/>
            <a:ext cx="9144000" cy="1655762"/>
          </a:xfrm>
        </p:spPr>
        <p:txBody>
          <a:bodyPr>
            <a:normAutofit fontScale="77500" lnSpcReduction="20000"/>
          </a:bodyPr>
          <a:lstStyle/>
          <a:p>
            <a:r>
              <a:rPr lang="en-IN" b="1" u="sng" dirty="0">
                <a:solidFill>
                  <a:schemeClr val="bg2"/>
                </a:solidFill>
                <a:latin typeface="Copperplate Gothic Bold" panose="020E0705020206020404" pitchFamily="34" charset="0"/>
              </a:rPr>
              <a:t>Team Members:</a:t>
            </a:r>
          </a:p>
          <a:p>
            <a:endParaRPr lang="en-IN" b="1" u="sng" dirty="0">
              <a:solidFill>
                <a:schemeClr val="bg2"/>
              </a:solidFill>
              <a:latin typeface="Copperplate Gothic Bold" panose="020E0705020206020404" pitchFamily="34" charset="0"/>
            </a:endParaRPr>
          </a:p>
          <a:p>
            <a:pPr algn="l"/>
            <a:r>
              <a:rPr lang="en-IN" dirty="0">
                <a:solidFill>
                  <a:schemeClr val="bg2"/>
                </a:solidFill>
                <a:latin typeface="Book Antiqua" panose="02040602050305030304" pitchFamily="18" charset="0"/>
              </a:rPr>
              <a:t>Jovika Pokkula – 2620090085</a:t>
            </a:r>
          </a:p>
          <a:p>
            <a:pPr algn="l"/>
            <a:r>
              <a:rPr lang="en-IN" dirty="0">
                <a:solidFill>
                  <a:schemeClr val="bg2"/>
                </a:solidFill>
                <a:latin typeface="Book Antiqua" panose="02040602050305030304" pitchFamily="18" charset="0"/>
              </a:rPr>
              <a:t>K.Spoorthy – 2620090035</a:t>
            </a:r>
          </a:p>
          <a:p>
            <a:pPr algn="l"/>
            <a:r>
              <a:rPr lang="en-IN" dirty="0">
                <a:solidFill>
                  <a:schemeClr val="bg2"/>
                </a:solidFill>
                <a:latin typeface="Book Antiqua" panose="02040602050305030304" pitchFamily="18" charset="0"/>
              </a:rPr>
              <a:t>P.Laxmi Sahasra - </a:t>
            </a:r>
            <a:r>
              <a:rPr lang="en-IN" dirty="0" smtClean="0">
                <a:solidFill>
                  <a:schemeClr val="bg2"/>
                </a:solidFill>
                <a:latin typeface="Book Antiqua" panose="02040602050305030304" pitchFamily="18" charset="0"/>
              </a:rPr>
              <a:t>2620030571</a:t>
            </a:r>
            <a:endParaRPr lang="en-IN" dirty="0">
              <a:solidFill>
                <a:schemeClr val="bg2"/>
              </a:solidFill>
              <a:latin typeface="Book Antiqua" panose="02040602050305030304" pitchFamily="18" charset="0"/>
            </a:endParaRPr>
          </a:p>
        </p:txBody>
      </p:sp>
      <p:pic>
        <p:nvPicPr>
          <p:cNvPr id="7" name="Picture 6">
            <a:extLst>
              <a:ext uri="{FF2B5EF4-FFF2-40B4-BE49-F238E27FC236}">
                <a16:creationId xmlns:a16="http://schemas.microsoft.com/office/drawing/2014/main" xmlns="" id="{8D182D02-A9F4-5C83-6CFE-87317ADD7C9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rot="1326439">
            <a:off x="189554" y="758989"/>
            <a:ext cx="1138338" cy="1229725"/>
          </a:xfrm>
          <a:prstGeom prst="rect">
            <a:avLst/>
          </a:prstGeom>
        </p:spPr>
      </p:pic>
      <p:pic>
        <p:nvPicPr>
          <p:cNvPr id="8" name="Picture 7">
            <a:extLst>
              <a:ext uri="{FF2B5EF4-FFF2-40B4-BE49-F238E27FC236}">
                <a16:creationId xmlns:a16="http://schemas.microsoft.com/office/drawing/2014/main" xmlns="" id="{D71E479C-CAE4-BC90-4B19-C56FFE040B0F}"/>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rot="20485853">
            <a:off x="10914033" y="2018110"/>
            <a:ext cx="1300203" cy="1271881"/>
          </a:xfrm>
          <a:prstGeom prst="rect">
            <a:avLst/>
          </a:prstGeom>
        </p:spPr>
      </p:pic>
      <p:sp>
        <p:nvSpPr>
          <p:cNvPr id="10" name="TextBox 9">
            <a:extLst>
              <a:ext uri="{FF2B5EF4-FFF2-40B4-BE49-F238E27FC236}">
                <a16:creationId xmlns:a16="http://schemas.microsoft.com/office/drawing/2014/main" xmlns="" id="{1B5CD7B1-1F03-0F2A-FF0D-A3A1C1548FB3}"/>
              </a:ext>
            </a:extLst>
          </p:cNvPr>
          <p:cNvSpPr txBox="1"/>
          <p:nvPr/>
        </p:nvSpPr>
        <p:spPr>
          <a:xfrm>
            <a:off x="3882127" y="3298759"/>
            <a:ext cx="4478102" cy="553998"/>
          </a:xfrm>
          <a:prstGeom prst="rect">
            <a:avLst/>
          </a:prstGeom>
          <a:noFill/>
          <a:ln>
            <a:solidFill>
              <a:schemeClr val="bg2"/>
            </a:solidFill>
          </a:ln>
          <a:effectLst>
            <a:outerShdw blurRad="63500" sx="102000" sy="102000" algn="ctr" rotWithShape="0">
              <a:prstClr val="black">
                <a:alpha val="40000"/>
              </a:prstClr>
            </a:outerShdw>
          </a:effectLst>
        </p:spPr>
        <p:txBody>
          <a:bodyPr wrap="square" rtlCol="0">
            <a:spAutoFit/>
          </a:bodyPr>
          <a:lstStyle/>
          <a:p>
            <a:pPr algn="ctr"/>
            <a:r>
              <a:rPr lang="en-IN" sz="3000" u="sng" dirty="0">
                <a:solidFill>
                  <a:schemeClr val="bg2"/>
                </a:solidFill>
                <a:latin typeface="Monotype Corsiva" panose="03010101010201010101" pitchFamily="66" charset="0"/>
              </a:rPr>
              <a:t>Team Number - 24</a:t>
            </a:r>
          </a:p>
        </p:txBody>
      </p:sp>
      <p:sp>
        <p:nvSpPr>
          <p:cNvPr id="12" name="TextBox 11">
            <a:extLst>
              <a:ext uri="{FF2B5EF4-FFF2-40B4-BE49-F238E27FC236}">
                <a16:creationId xmlns:a16="http://schemas.microsoft.com/office/drawing/2014/main" xmlns="" id="{67FCB6A1-C617-9C6E-57F2-69B26FF8DEC4}"/>
              </a:ext>
            </a:extLst>
          </p:cNvPr>
          <p:cNvSpPr txBox="1"/>
          <p:nvPr/>
        </p:nvSpPr>
        <p:spPr>
          <a:xfrm>
            <a:off x="11658600" y="6379029"/>
            <a:ext cx="308098" cy="369332"/>
          </a:xfrm>
          <a:prstGeom prst="rect">
            <a:avLst/>
          </a:prstGeom>
          <a:noFill/>
        </p:spPr>
        <p:txBody>
          <a:bodyPr wrap="none" rtlCol="0">
            <a:spAutoFit/>
          </a:bodyPr>
          <a:lstStyle/>
          <a:p>
            <a:pPr algn="r"/>
            <a:r>
              <a:rPr lang="en-IN" dirty="0">
                <a:solidFill>
                  <a:schemeClr val="bg2"/>
                </a:solidFill>
              </a:rPr>
              <a:t>1</a:t>
            </a:r>
          </a:p>
        </p:txBody>
      </p:sp>
      <p:pic>
        <p:nvPicPr>
          <p:cNvPr id="15" name="Picture 14">
            <a:extLst>
              <a:ext uri="{FF2B5EF4-FFF2-40B4-BE49-F238E27FC236}">
                <a16:creationId xmlns:a16="http://schemas.microsoft.com/office/drawing/2014/main" xmlns="" id="{7AC7DAB0-BE36-1765-D745-4FF51FE969DF}"/>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60837" y="2978404"/>
            <a:ext cx="1194707" cy="1194707"/>
          </a:xfrm>
          <a:prstGeom prst="rect">
            <a:avLst/>
          </a:prstGeom>
        </p:spPr>
      </p:pic>
      <p:pic>
        <p:nvPicPr>
          <p:cNvPr id="17" name="Picture 16">
            <a:extLst>
              <a:ext uri="{FF2B5EF4-FFF2-40B4-BE49-F238E27FC236}">
                <a16:creationId xmlns:a16="http://schemas.microsoft.com/office/drawing/2014/main" xmlns="" id="{119A6B22-676A-C960-7FEB-2450552CF317}"/>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rot="620376">
            <a:off x="2975206" y="-61613"/>
            <a:ext cx="1596793" cy="1596793"/>
          </a:xfrm>
          <a:prstGeom prst="rect">
            <a:avLst/>
          </a:prstGeom>
        </p:spPr>
      </p:pic>
      <p:pic>
        <p:nvPicPr>
          <p:cNvPr id="19" name="Picture 18">
            <a:extLst>
              <a:ext uri="{FF2B5EF4-FFF2-40B4-BE49-F238E27FC236}">
                <a16:creationId xmlns:a16="http://schemas.microsoft.com/office/drawing/2014/main" xmlns="" id="{4303B84F-C859-937B-498E-A70B27D7F085}"/>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9152618" y="44098"/>
            <a:ext cx="1730829" cy="1755256"/>
          </a:xfrm>
          <a:prstGeom prst="rect">
            <a:avLst/>
          </a:prstGeom>
        </p:spPr>
      </p:pic>
      <p:pic>
        <p:nvPicPr>
          <p:cNvPr id="21" name="Picture 20">
            <a:extLst>
              <a:ext uri="{FF2B5EF4-FFF2-40B4-BE49-F238E27FC236}">
                <a16:creationId xmlns:a16="http://schemas.microsoft.com/office/drawing/2014/main" xmlns="" id="{C28DF926-5566-0119-E5AA-E2C3E5BB0774}"/>
              </a:ext>
            </a:extLst>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8124831" y="3463908"/>
            <a:ext cx="2055574" cy="2055574"/>
          </a:xfrm>
          <a:prstGeom prst="rect">
            <a:avLst/>
          </a:prstGeom>
        </p:spPr>
      </p:pic>
      <p:pic>
        <p:nvPicPr>
          <p:cNvPr id="25" name="Picture 24">
            <a:extLst>
              <a:ext uri="{FF2B5EF4-FFF2-40B4-BE49-F238E27FC236}">
                <a16:creationId xmlns:a16="http://schemas.microsoft.com/office/drawing/2014/main" xmlns="" id="{ADBC7AA5-9750-3D8A-E61B-B5337F1EEBAF}"/>
              </a:ext>
            </a:extLst>
          </p:cNvP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38098" y="5266500"/>
            <a:ext cx="1603827" cy="1603827"/>
          </a:xfrm>
          <a:prstGeom prst="rect">
            <a:avLst/>
          </a:prstGeom>
        </p:spPr>
      </p:pic>
      <p:pic>
        <p:nvPicPr>
          <p:cNvPr id="26" name="Picture 25">
            <a:extLst>
              <a:ext uri="{FF2B5EF4-FFF2-40B4-BE49-F238E27FC236}">
                <a16:creationId xmlns:a16="http://schemas.microsoft.com/office/drawing/2014/main" xmlns="" id="{3F8F14A6-12F0-5217-FBAA-97E56CBDD4A4}"/>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0316159" y="5174015"/>
            <a:ext cx="1194707" cy="1194707"/>
          </a:xfrm>
          <a:prstGeom prst="rect">
            <a:avLst/>
          </a:prstGeom>
        </p:spPr>
      </p:pic>
    </p:spTree>
    <p:extLst>
      <p:ext uri="{BB962C8B-B14F-4D97-AF65-F5344CB8AC3E}">
        <p14:creationId xmlns:p14="http://schemas.microsoft.com/office/powerpoint/2010/main" xmlns="" val="4212150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C8B1F597-28BF-D591-912A-67A4E3767A7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F34773AD-4149-ED2F-991E-78D1439E556D}"/>
              </a:ext>
            </a:extLst>
          </p:cNvPr>
          <p:cNvSpPr>
            <a:spLocks noGrp="1"/>
          </p:cNvSpPr>
          <p:nvPr>
            <p:ph type="title"/>
          </p:nvPr>
        </p:nvSpPr>
        <p:spPr/>
        <p:txBody>
          <a:bodyPr/>
          <a:lstStyle/>
          <a:p>
            <a:r>
              <a:rPr lang="en-IN" dirty="0">
                <a:solidFill>
                  <a:schemeClr val="bg2"/>
                </a:solidFill>
                <a:latin typeface="Lucida Bright" panose="02040602050505020304" pitchFamily="18" charset="0"/>
              </a:rPr>
              <a:t>ABSTRACT:</a:t>
            </a:r>
          </a:p>
        </p:txBody>
      </p:sp>
      <p:sp>
        <p:nvSpPr>
          <p:cNvPr id="9" name="Content Placeholder 8">
            <a:extLst>
              <a:ext uri="{FF2B5EF4-FFF2-40B4-BE49-F238E27FC236}">
                <a16:creationId xmlns:a16="http://schemas.microsoft.com/office/drawing/2014/main" xmlns="" id="{99EFF9CD-F7BC-8516-3B02-59900EE72952}"/>
              </a:ext>
            </a:extLst>
          </p:cNvPr>
          <p:cNvSpPr>
            <a:spLocks noGrp="1"/>
          </p:cNvSpPr>
          <p:nvPr>
            <p:ph idx="1"/>
          </p:nvPr>
        </p:nvSpPr>
        <p:spPr>
          <a:xfrm>
            <a:off x="838200" y="1447800"/>
            <a:ext cx="10515600" cy="4729163"/>
          </a:xfrm>
        </p:spPr>
        <p:txBody>
          <a:bodyPr>
            <a:normAutofit/>
          </a:bodyPr>
          <a:lstStyle/>
          <a:p>
            <a:pPr marL="0" indent="0">
              <a:buNone/>
            </a:pPr>
            <a:r>
              <a:rPr lang="en-IN" dirty="0">
                <a:solidFill>
                  <a:schemeClr val="bg2"/>
                </a:solidFill>
                <a:latin typeface="Constantia" panose="02030602050306030303" pitchFamily="18" charset="0"/>
              </a:rPr>
              <a:t>The Rooftop Solar Energy Monitor is a system designed to monitor and manage the energy generated by rooftop solar panels. Traditional methods of checking solar energy production manually can be time-consuming and may not provide accurate real-time information. This system provides a centralized platform to monitor solar power generation, energy consumption, and overall system performance. The System allows users to view important details such as current power generation, total energy produced, energy consumption, and the status of the solar panels. It can help users track daily or monthly energy production and identify changes in system performance. By maintaining these records, users can better understand their solar energy usage and efficiency. </a:t>
            </a:r>
          </a:p>
        </p:txBody>
      </p:sp>
      <p:sp>
        <p:nvSpPr>
          <p:cNvPr id="11" name="TextBox 10">
            <a:extLst>
              <a:ext uri="{FF2B5EF4-FFF2-40B4-BE49-F238E27FC236}">
                <a16:creationId xmlns:a16="http://schemas.microsoft.com/office/drawing/2014/main" xmlns="" id="{F9AC1E02-D01D-F84C-1AE7-A7D18E76B8AC}"/>
              </a:ext>
            </a:extLst>
          </p:cNvPr>
          <p:cNvSpPr txBox="1"/>
          <p:nvPr/>
        </p:nvSpPr>
        <p:spPr>
          <a:xfrm>
            <a:off x="11615057" y="6368142"/>
            <a:ext cx="308098" cy="369332"/>
          </a:xfrm>
          <a:prstGeom prst="rect">
            <a:avLst/>
          </a:prstGeom>
          <a:noFill/>
        </p:spPr>
        <p:txBody>
          <a:bodyPr wrap="none" rtlCol="0">
            <a:spAutoFit/>
          </a:bodyPr>
          <a:lstStyle/>
          <a:p>
            <a:r>
              <a:rPr lang="en-IN" dirty="0">
                <a:solidFill>
                  <a:schemeClr val="bg2"/>
                </a:solidFill>
              </a:rPr>
              <a:t>2</a:t>
            </a:r>
          </a:p>
        </p:txBody>
      </p:sp>
      <p:pic>
        <p:nvPicPr>
          <p:cNvPr id="13" name="Picture 12">
            <a:extLst>
              <a:ext uri="{FF2B5EF4-FFF2-40B4-BE49-F238E27FC236}">
                <a16:creationId xmlns:a16="http://schemas.microsoft.com/office/drawing/2014/main" xmlns="" id="{38DBC4DC-780B-9C7C-114A-3EB7E6FA766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932838" y="71578"/>
            <a:ext cx="1218917" cy="1218917"/>
          </a:xfrm>
          <a:prstGeom prst="rect">
            <a:avLst/>
          </a:prstGeom>
        </p:spPr>
      </p:pic>
    </p:spTree>
    <p:extLst>
      <p:ext uri="{BB962C8B-B14F-4D97-AF65-F5344CB8AC3E}">
        <p14:creationId xmlns:p14="http://schemas.microsoft.com/office/powerpoint/2010/main" xmlns="" val="3721890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366DF3E8-C111-693E-D870-8F4E3C9FE61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4536E1F0-DC30-718C-8B06-EBB197A39D6A}"/>
              </a:ext>
            </a:extLst>
          </p:cNvPr>
          <p:cNvSpPr>
            <a:spLocks noGrp="1"/>
          </p:cNvSpPr>
          <p:nvPr>
            <p:ph type="title"/>
          </p:nvPr>
        </p:nvSpPr>
        <p:spPr/>
        <p:txBody>
          <a:bodyPr/>
          <a:lstStyle/>
          <a:p>
            <a:r>
              <a:rPr lang="en-IN" dirty="0">
                <a:solidFill>
                  <a:schemeClr val="bg2"/>
                </a:solidFill>
                <a:latin typeface="Lucida Bright" panose="02040602050505020304" pitchFamily="18" charset="0"/>
              </a:rPr>
              <a:t>ABSTRACT:</a:t>
            </a:r>
          </a:p>
        </p:txBody>
      </p:sp>
      <p:sp>
        <p:nvSpPr>
          <p:cNvPr id="9" name="Content Placeholder 8">
            <a:extLst>
              <a:ext uri="{FF2B5EF4-FFF2-40B4-BE49-F238E27FC236}">
                <a16:creationId xmlns:a16="http://schemas.microsoft.com/office/drawing/2014/main" xmlns="" id="{CC45E3B8-9303-6DBE-33A8-8B4A2BAA0122}"/>
              </a:ext>
            </a:extLst>
          </p:cNvPr>
          <p:cNvSpPr>
            <a:spLocks noGrp="1"/>
          </p:cNvSpPr>
          <p:nvPr>
            <p:ph idx="1"/>
          </p:nvPr>
        </p:nvSpPr>
        <p:spPr>
          <a:xfrm>
            <a:off x="838200" y="1447800"/>
            <a:ext cx="10515600" cy="4729163"/>
          </a:xfrm>
        </p:spPr>
        <p:txBody>
          <a:bodyPr>
            <a:normAutofit/>
          </a:bodyPr>
          <a:lstStyle/>
          <a:p>
            <a:pPr marL="0" indent="0">
              <a:buNone/>
            </a:pPr>
            <a:r>
              <a:rPr lang="en-IN" dirty="0">
                <a:solidFill>
                  <a:schemeClr val="bg2"/>
                </a:solidFill>
                <a:latin typeface="Constantia" panose="02030602050306030303" pitchFamily="18" charset="0"/>
              </a:rPr>
              <a:t>By automating the monitoring process, the proposed system reduces manual effort, saves time, and provides easy access to energy-related information. The Rooftop Solar Energy Monitor can be implemented as a web, desktop, or Java-based application and can be further enhanced with features such as real-time alerts, weather-based energy prediction, graphical reports, and notifications. Overall, the system aims to provide a simple, efficient, and user-friendly solution for monitoring and managing rooftop solar energy generation.</a:t>
            </a:r>
          </a:p>
        </p:txBody>
      </p:sp>
      <p:sp>
        <p:nvSpPr>
          <p:cNvPr id="2" name="TextBox 1">
            <a:extLst>
              <a:ext uri="{FF2B5EF4-FFF2-40B4-BE49-F238E27FC236}">
                <a16:creationId xmlns:a16="http://schemas.microsoft.com/office/drawing/2014/main" xmlns="" id="{885D8ECE-CB11-AA88-FF5D-10200DB7CE7B}"/>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pic>
        <p:nvPicPr>
          <p:cNvPr id="4" name="Picture 3">
            <a:extLst>
              <a:ext uri="{FF2B5EF4-FFF2-40B4-BE49-F238E27FC236}">
                <a16:creationId xmlns:a16="http://schemas.microsoft.com/office/drawing/2014/main" xmlns="" id="{4482C127-EE99-26B1-6BD2-28575F20D90A}"/>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925176" y="0"/>
            <a:ext cx="1325562" cy="1325562"/>
          </a:xfrm>
          <a:prstGeom prst="rect">
            <a:avLst/>
          </a:prstGeom>
        </p:spPr>
      </p:pic>
    </p:spTree>
    <p:extLst>
      <p:ext uri="{BB962C8B-B14F-4D97-AF65-F5344CB8AC3E}">
        <p14:creationId xmlns:p14="http://schemas.microsoft.com/office/powerpoint/2010/main" xmlns="" val="1316773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F0F4B5EF-738C-5627-405D-9B759373E2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F75C6D89-4964-FC53-2600-EDCBD683971A}"/>
              </a:ext>
            </a:extLst>
          </p:cNvPr>
          <p:cNvSpPr>
            <a:spLocks noGrp="1"/>
          </p:cNvSpPr>
          <p:nvPr>
            <p:ph type="title"/>
          </p:nvPr>
        </p:nvSpPr>
        <p:spPr/>
        <p:txBody>
          <a:bodyPr/>
          <a:lstStyle/>
          <a:p>
            <a:r>
              <a:rPr lang="en-IN" dirty="0">
                <a:solidFill>
                  <a:schemeClr val="bg2"/>
                </a:solidFill>
                <a:latin typeface="Lucida Bright" panose="02040602050505020304" pitchFamily="18" charset="0"/>
              </a:rPr>
              <a:t>Understanding Problem Statement:</a:t>
            </a:r>
          </a:p>
        </p:txBody>
      </p:sp>
      <p:sp>
        <p:nvSpPr>
          <p:cNvPr id="9" name="Content Placeholder 8">
            <a:extLst>
              <a:ext uri="{FF2B5EF4-FFF2-40B4-BE49-F238E27FC236}">
                <a16:creationId xmlns:a16="http://schemas.microsoft.com/office/drawing/2014/main" xmlns="" id="{84EBD76A-F09B-1824-088C-188B7A6F5C94}"/>
              </a:ext>
            </a:extLst>
          </p:cNvPr>
          <p:cNvSpPr>
            <a:spLocks noGrp="1"/>
          </p:cNvSpPr>
          <p:nvPr>
            <p:ph idx="1"/>
          </p:nvPr>
        </p:nvSpPr>
        <p:spPr>
          <a:xfrm>
            <a:off x="838200" y="1447800"/>
            <a:ext cx="10515600" cy="4729163"/>
          </a:xfrm>
        </p:spPr>
        <p:txBody>
          <a:bodyPr>
            <a:normAutofit fontScale="77500" lnSpcReduction="20000"/>
          </a:bodyPr>
          <a:lstStyle/>
          <a:p>
            <a:r>
              <a:rPr lang="en-US" b="1" dirty="0" smtClean="0">
                <a:solidFill>
                  <a:schemeClr val="bg2"/>
                </a:solidFill>
              </a:rPr>
              <a:t>Problem Statement:</a:t>
            </a:r>
            <a:r>
              <a:rPr lang="en-US" dirty="0" smtClean="0">
                <a:solidFill>
                  <a:schemeClr val="bg2"/>
                </a:solidFill>
              </a:rPr>
              <a:t/>
            </a:r>
            <a:br>
              <a:rPr lang="en-US" dirty="0" smtClean="0">
                <a:solidFill>
                  <a:schemeClr val="bg2"/>
                </a:solidFill>
              </a:rPr>
            </a:br>
            <a:r>
              <a:rPr lang="en-US" dirty="0" smtClean="0">
                <a:solidFill>
                  <a:schemeClr val="bg2"/>
                </a:solidFill>
              </a:rPr>
              <a:t>Many rooftop solar systems do not provide simple, real-time information about how much energy is being generated and consumed. This makes it difficult for users to monitor performance, identify energy wastage, and understand their electricity usage.</a:t>
            </a:r>
          </a:p>
          <a:p>
            <a:r>
              <a:rPr lang="en-US" b="1" dirty="0" smtClean="0">
                <a:solidFill>
                  <a:schemeClr val="bg2"/>
                </a:solidFill>
              </a:rPr>
              <a:t>Key Problems:</a:t>
            </a:r>
            <a:endParaRPr lang="en-US" dirty="0" smtClean="0">
              <a:solidFill>
                <a:schemeClr val="bg2"/>
              </a:solidFill>
            </a:endParaRPr>
          </a:p>
          <a:p>
            <a:r>
              <a:rPr lang="en-US" dirty="0" smtClean="0">
                <a:solidFill>
                  <a:schemeClr val="bg2"/>
                </a:solidFill>
              </a:rPr>
              <a:t>Difficulty in monitoring solar energy generation. </a:t>
            </a:r>
          </a:p>
          <a:p>
            <a:r>
              <a:rPr lang="en-US" dirty="0" smtClean="0">
                <a:solidFill>
                  <a:schemeClr val="bg2"/>
                </a:solidFill>
              </a:rPr>
              <a:t>No simple real-time view of energy production and consumption. </a:t>
            </a:r>
          </a:p>
          <a:p>
            <a:r>
              <a:rPr lang="en-US" dirty="0" smtClean="0">
                <a:solidFill>
                  <a:schemeClr val="bg2"/>
                </a:solidFill>
              </a:rPr>
              <a:t>Energy wastage may go unnoticed. </a:t>
            </a:r>
          </a:p>
          <a:p>
            <a:r>
              <a:rPr lang="en-US" dirty="0" smtClean="0">
                <a:solidFill>
                  <a:schemeClr val="bg2"/>
                </a:solidFill>
              </a:rPr>
              <a:t>Users may not know when the solar system is performing efficiently. </a:t>
            </a:r>
          </a:p>
          <a:p>
            <a:r>
              <a:rPr lang="en-US" dirty="0" smtClean="0">
                <a:solidFill>
                  <a:schemeClr val="bg2"/>
                </a:solidFill>
              </a:rPr>
              <a:t>Manual monitoring can be time-consuming. </a:t>
            </a:r>
          </a:p>
          <a:p>
            <a:r>
              <a:rPr lang="en-US" b="1" dirty="0" smtClean="0">
                <a:solidFill>
                  <a:schemeClr val="bg2"/>
                </a:solidFill>
              </a:rPr>
              <a:t>Need for the Solution:</a:t>
            </a:r>
            <a:r>
              <a:rPr lang="en-US" dirty="0" smtClean="0">
                <a:solidFill>
                  <a:schemeClr val="bg2"/>
                </a:solidFill>
              </a:rPr>
              <a:t/>
            </a:r>
            <a:br>
              <a:rPr lang="en-US" dirty="0" smtClean="0">
                <a:solidFill>
                  <a:schemeClr val="bg2"/>
                </a:solidFill>
              </a:rPr>
            </a:br>
            <a:r>
              <a:rPr lang="en-US" dirty="0" smtClean="0">
                <a:solidFill>
                  <a:schemeClr val="bg2"/>
                </a:solidFill>
              </a:rPr>
              <a:t>A </a:t>
            </a:r>
            <a:r>
              <a:rPr lang="en-US" b="1" dirty="0" smtClean="0">
                <a:solidFill>
                  <a:schemeClr val="bg2"/>
                </a:solidFill>
              </a:rPr>
              <a:t>Rooftop Solar Energy Monitor</a:t>
            </a:r>
            <a:r>
              <a:rPr lang="en-US" dirty="0" smtClean="0">
                <a:solidFill>
                  <a:schemeClr val="bg2"/>
                </a:solidFill>
              </a:rPr>
              <a:t> can collect and display energy data in an easy-to-understand way, helping users monitor solar generation, consumption, and overall system performance.</a:t>
            </a:r>
          </a:p>
          <a:p>
            <a:pPr marL="0" indent="0">
              <a:buNone/>
            </a:pPr>
            <a:endParaRPr lang="en-IN" dirty="0">
              <a:solidFill>
                <a:schemeClr val="bg2"/>
              </a:solidFill>
              <a:latin typeface="Constantia" panose="02030602050306030303" pitchFamily="18" charset="0"/>
            </a:endParaRPr>
          </a:p>
        </p:txBody>
      </p:sp>
      <p:sp>
        <p:nvSpPr>
          <p:cNvPr id="2" name="TextBox 1">
            <a:extLst>
              <a:ext uri="{FF2B5EF4-FFF2-40B4-BE49-F238E27FC236}">
                <a16:creationId xmlns:a16="http://schemas.microsoft.com/office/drawing/2014/main" xmlns="" id="{1B144B59-A1DE-57E4-842D-57ED8FFBA19A}"/>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spTree>
    <p:extLst>
      <p:ext uri="{BB962C8B-B14F-4D97-AF65-F5344CB8AC3E}">
        <p14:creationId xmlns:p14="http://schemas.microsoft.com/office/powerpoint/2010/main" xmlns="" val="3048284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EE40484F-F0A2-6FCA-9908-1DE3DD00109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38F83897-301E-D26C-434D-04ADD84D0D1F}"/>
              </a:ext>
            </a:extLst>
          </p:cNvPr>
          <p:cNvSpPr>
            <a:spLocks noGrp="1"/>
          </p:cNvSpPr>
          <p:nvPr>
            <p:ph type="title"/>
          </p:nvPr>
        </p:nvSpPr>
        <p:spPr/>
        <p:txBody>
          <a:bodyPr/>
          <a:lstStyle/>
          <a:p>
            <a:r>
              <a:rPr lang="en-IN" dirty="0">
                <a:solidFill>
                  <a:schemeClr val="bg2"/>
                </a:solidFill>
                <a:latin typeface="Lucida Bright" panose="02040602050505020304" pitchFamily="18" charset="0"/>
              </a:rPr>
              <a:t>Course Outcome - 1</a:t>
            </a:r>
          </a:p>
        </p:txBody>
      </p:sp>
      <p:sp>
        <p:nvSpPr>
          <p:cNvPr id="9" name="Content Placeholder 8">
            <a:extLst>
              <a:ext uri="{FF2B5EF4-FFF2-40B4-BE49-F238E27FC236}">
                <a16:creationId xmlns:a16="http://schemas.microsoft.com/office/drawing/2014/main" xmlns="" id="{971D0BD4-F473-9273-B314-AE6696601C29}"/>
              </a:ext>
            </a:extLst>
          </p:cNvPr>
          <p:cNvSpPr>
            <a:spLocks noGrp="1"/>
          </p:cNvSpPr>
          <p:nvPr>
            <p:ph idx="1"/>
          </p:nvPr>
        </p:nvSpPr>
        <p:spPr>
          <a:xfrm>
            <a:off x="838200" y="1398815"/>
            <a:ext cx="10515600" cy="4729163"/>
          </a:xfrm>
        </p:spPr>
        <p:txBody>
          <a:bodyPr>
            <a:normAutofit/>
          </a:bodyPr>
          <a:lstStyle/>
          <a:p>
            <a:pPr marL="0" indent="0">
              <a:buNone/>
            </a:pPr>
            <a:endParaRPr lang="en-IN" dirty="0" smtClean="0">
              <a:solidFill>
                <a:schemeClr val="bg2"/>
              </a:solidFill>
              <a:latin typeface="Constantia" panose="02030602050306030303" pitchFamily="18" charset="0"/>
            </a:endParaRPr>
          </a:p>
          <a:p>
            <a:pPr marL="0" indent="0">
              <a:buNone/>
            </a:pPr>
            <a:r>
              <a:rPr lang="en-IN" dirty="0" smtClean="0">
                <a:solidFill>
                  <a:schemeClr val="bg2"/>
                </a:solidFill>
                <a:latin typeface="Constantia" panose="02030602050306030303" pitchFamily="18" charset="0"/>
              </a:rPr>
              <a:t>• public class </a:t>
            </a:r>
            <a:r>
              <a:rPr lang="en-IN" dirty="0" err="1" smtClean="0">
                <a:solidFill>
                  <a:schemeClr val="bg2"/>
                </a:solidFill>
                <a:latin typeface="Constantia" panose="02030602050306030303" pitchFamily="18" charset="0"/>
              </a:rPr>
              <a:t>SolarEnergyMonitor</a:t>
            </a:r>
            <a:r>
              <a:rPr lang="en-IN" dirty="0" smtClean="0">
                <a:solidFill>
                  <a:schemeClr val="bg2"/>
                </a:solidFill>
                <a:latin typeface="Constantia" panose="02030602050306030303" pitchFamily="18" charset="0"/>
              </a:rPr>
              <a:t> → Class</a:t>
            </a:r>
          </a:p>
          <a:p>
            <a:pPr marL="0" indent="0">
              <a:buNone/>
            </a:pPr>
            <a:r>
              <a:rPr lang="en-IN" dirty="0" smtClean="0">
                <a:solidFill>
                  <a:schemeClr val="bg2"/>
                </a:solidFill>
                <a:latin typeface="Constantia" panose="02030602050306030303" pitchFamily="18" charset="0"/>
              </a:rPr>
              <a:t>• public static void main(String[] </a:t>
            </a:r>
            <a:r>
              <a:rPr lang="en-IN" dirty="0" err="1" smtClean="0">
                <a:solidFill>
                  <a:schemeClr val="bg2"/>
                </a:solidFill>
                <a:latin typeface="Constantia" panose="02030602050306030303" pitchFamily="18" charset="0"/>
              </a:rPr>
              <a:t>args</a:t>
            </a:r>
            <a:r>
              <a:rPr lang="en-IN" dirty="0" smtClean="0">
                <a:solidFill>
                  <a:schemeClr val="bg2"/>
                </a:solidFill>
                <a:latin typeface="Constantia" panose="02030602050306030303" pitchFamily="18" charset="0"/>
              </a:rPr>
              <a:t>) → Main method</a:t>
            </a:r>
          </a:p>
          <a:p>
            <a:pPr marL="0" indent="0">
              <a:buNone/>
            </a:pPr>
            <a:r>
              <a:rPr lang="en-IN" dirty="0" smtClean="0">
                <a:solidFill>
                  <a:schemeClr val="bg2"/>
                </a:solidFill>
                <a:latin typeface="Constantia" panose="02030602050306030303" pitchFamily="18" charset="0"/>
              </a:rPr>
              <a:t>• double voltage, double current, double power, double energy → Variables &amp; data types</a:t>
            </a:r>
          </a:p>
          <a:p>
            <a:pPr marL="0" indent="0">
              <a:buNone/>
            </a:pPr>
            <a:r>
              <a:rPr lang="en-IN" dirty="0" smtClean="0">
                <a:solidFill>
                  <a:schemeClr val="bg2"/>
                </a:solidFill>
                <a:latin typeface="Constantia" panose="02030602050306030303" pitchFamily="18" charset="0"/>
              </a:rPr>
              <a:t>• Scanner sc = new Scanner(</a:t>
            </a:r>
            <a:r>
              <a:rPr lang="en-IN" dirty="0" err="1" smtClean="0">
                <a:solidFill>
                  <a:schemeClr val="bg2"/>
                </a:solidFill>
                <a:latin typeface="Constantia" panose="02030602050306030303" pitchFamily="18" charset="0"/>
              </a:rPr>
              <a:t>System.in</a:t>
            </a:r>
            <a:r>
              <a:rPr lang="en-IN" dirty="0" smtClean="0">
                <a:solidFill>
                  <a:schemeClr val="bg2"/>
                </a:solidFill>
                <a:latin typeface="Constantia" panose="02030602050306030303" pitchFamily="18" charset="0"/>
              </a:rPr>
              <a:t>) → Scanner class</a:t>
            </a:r>
          </a:p>
          <a:p>
            <a:pPr marL="0" indent="0">
              <a:buNone/>
            </a:pPr>
            <a:r>
              <a:rPr lang="en-IN" dirty="0" smtClean="0">
                <a:solidFill>
                  <a:schemeClr val="bg2"/>
                </a:solidFill>
                <a:latin typeface="Constantia" panose="02030602050306030303" pitchFamily="18" charset="0"/>
              </a:rPr>
              <a:t>• </a:t>
            </a:r>
            <a:r>
              <a:rPr lang="en-IN" dirty="0" err="1" smtClean="0">
                <a:solidFill>
                  <a:schemeClr val="bg2"/>
                </a:solidFill>
                <a:latin typeface="Constantia" panose="02030602050306030303" pitchFamily="18" charset="0"/>
              </a:rPr>
              <a:t>sc.nextDouble</a:t>
            </a:r>
            <a:r>
              <a:rPr lang="en-IN" dirty="0" smtClean="0">
                <a:solidFill>
                  <a:schemeClr val="bg2"/>
                </a:solidFill>
                <a:latin typeface="Constantia" panose="02030602050306030303" pitchFamily="18" charset="0"/>
              </a:rPr>
              <a:t>() → Input from user</a:t>
            </a:r>
          </a:p>
          <a:p>
            <a:pPr marL="0" indent="0">
              <a:buNone/>
            </a:pPr>
            <a:r>
              <a:rPr lang="en-IN" dirty="0" smtClean="0">
                <a:solidFill>
                  <a:schemeClr val="bg2"/>
                </a:solidFill>
                <a:latin typeface="Constantia" panose="02030602050306030303" pitchFamily="18" charset="0"/>
              </a:rPr>
              <a:t>• </a:t>
            </a:r>
            <a:r>
              <a:rPr lang="en-IN" dirty="0" err="1" smtClean="0">
                <a:solidFill>
                  <a:schemeClr val="bg2"/>
                </a:solidFill>
                <a:latin typeface="Constantia" panose="02030602050306030303" pitchFamily="18" charset="0"/>
              </a:rPr>
              <a:t>System.out.println</a:t>
            </a:r>
            <a:r>
              <a:rPr lang="en-IN" dirty="0" smtClean="0">
                <a:solidFill>
                  <a:schemeClr val="bg2"/>
                </a:solidFill>
                <a:latin typeface="Constantia" panose="02030602050306030303" pitchFamily="18" charset="0"/>
              </a:rPr>
              <a:t>() / </a:t>
            </a:r>
            <a:r>
              <a:rPr lang="en-IN" dirty="0" err="1" smtClean="0">
                <a:solidFill>
                  <a:schemeClr val="bg2"/>
                </a:solidFill>
                <a:latin typeface="Constantia" panose="02030602050306030303" pitchFamily="18" charset="0"/>
              </a:rPr>
              <a:t>System.out.print</a:t>
            </a:r>
            <a:r>
              <a:rPr lang="en-IN" dirty="0" smtClean="0">
                <a:solidFill>
                  <a:schemeClr val="bg2"/>
                </a:solidFill>
                <a:latin typeface="Constantia" panose="02030602050306030303" pitchFamily="18" charset="0"/>
              </a:rPr>
              <a:t>() → Output statements</a:t>
            </a:r>
          </a:p>
          <a:p>
            <a:pPr marL="0" indent="0">
              <a:buNone/>
            </a:pPr>
            <a:r>
              <a:rPr lang="en-IN" dirty="0" smtClean="0">
                <a:solidFill>
                  <a:schemeClr val="bg2"/>
                </a:solidFill>
                <a:latin typeface="Constantia" panose="02030602050306030303" pitchFamily="18" charset="0"/>
              </a:rPr>
              <a:t>• = → Assignment operator</a:t>
            </a:r>
            <a:endParaRPr lang="en-IN" dirty="0">
              <a:solidFill>
                <a:schemeClr val="bg2"/>
              </a:solidFill>
              <a:latin typeface="Constantia" panose="02030602050306030303" pitchFamily="18" charset="0"/>
            </a:endParaRPr>
          </a:p>
        </p:txBody>
      </p:sp>
      <p:sp>
        <p:nvSpPr>
          <p:cNvPr id="2" name="TextBox 1">
            <a:extLst>
              <a:ext uri="{FF2B5EF4-FFF2-40B4-BE49-F238E27FC236}">
                <a16:creationId xmlns:a16="http://schemas.microsoft.com/office/drawing/2014/main" xmlns="" id="{645477EC-1DCF-E53D-7E2C-9A7922786FB2}"/>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spTree>
    <p:extLst>
      <p:ext uri="{BB962C8B-B14F-4D97-AF65-F5344CB8AC3E}">
        <p14:creationId xmlns:p14="http://schemas.microsoft.com/office/powerpoint/2010/main" xmlns="" val="1740096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CE93AB56-A136-B86F-6114-F595E569650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8108B7EF-7BEE-F762-19B8-602FC653B05A}"/>
              </a:ext>
            </a:extLst>
          </p:cNvPr>
          <p:cNvSpPr>
            <a:spLocks noGrp="1"/>
          </p:cNvSpPr>
          <p:nvPr>
            <p:ph type="title"/>
          </p:nvPr>
        </p:nvSpPr>
        <p:spPr/>
        <p:txBody>
          <a:bodyPr/>
          <a:lstStyle/>
          <a:p>
            <a:r>
              <a:rPr lang="en-IN" dirty="0">
                <a:solidFill>
                  <a:schemeClr val="bg2"/>
                </a:solidFill>
                <a:latin typeface="Lucida Bright" panose="02040602050505020304" pitchFamily="18" charset="0"/>
              </a:rPr>
              <a:t>Course Outcome - 2</a:t>
            </a:r>
          </a:p>
        </p:txBody>
      </p:sp>
      <p:sp>
        <p:nvSpPr>
          <p:cNvPr id="9" name="Content Placeholder 8">
            <a:extLst>
              <a:ext uri="{FF2B5EF4-FFF2-40B4-BE49-F238E27FC236}">
                <a16:creationId xmlns:a16="http://schemas.microsoft.com/office/drawing/2014/main" xmlns="" id="{DB0BD9E4-541D-22AC-5C41-8640942C23CE}"/>
              </a:ext>
            </a:extLst>
          </p:cNvPr>
          <p:cNvSpPr>
            <a:spLocks noGrp="1"/>
          </p:cNvSpPr>
          <p:nvPr>
            <p:ph idx="1"/>
          </p:nvPr>
        </p:nvSpPr>
        <p:spPr>
          <a:xfrm>
            <a:off x="838200" y="1447800"/>
            <a:ext cx="10515600" cy="4729163"/>
          </a:xfrm>
        </p:spPr>
        <p:txBody>
          <a:bodyPr>
            <a:normAutofit fontScale="92500" lnSpcReduction="20000"/>
          </a:bodyPr>
          <a:lstStyle/>
          <a:p>
            <a:pPr marL="0" indent="0">
              <a:buNone/>
            </a:pPr>
            <a:endParaRPr lang="en-IN" dirty="0" smtClean="0">
              <a:solidFill>
                <a:schemeClr val="bg2"/>
              </a:solidFill>
              <a:latin typeface="Constantia" panose="02030602050306030303" pitchFamily="18" charset="0"/>
            </a:endParaRPr>
          </a:p>
          <a:p>
            <a:pPr marL="0" indent="0">
              <a:buNone/>
            </a:pPr>
            <a:endParaRPr lang="en-IN" dirty="0" smtClean="0">
              <a:solidFill>
                <a:schemeClr val="bg2"/>
              </a:solidFill>
              <a:latin typeface="Constantia" panose="02030602050306030303" pitchFamily="18" charset="0"/>
            </a:endParaRPr>
          </a:p>
          <a:p>
            <a:pPr marL="0" indent="0">
              <a:buNone/>
            </a:pPr>
            <a:r>
              <a:rPr lang="en-IN" dirty="0" smtClean="0">
                <a:solidFill>
                  <a:schemeClr val="bg2"/>
                </a:solidFill>
                <a:latin typeface="Constantia" panose="02030602050306030303" pitchFamily="18" charset="0"/>
              </a:rPr>
              <a:t>• * → Multiplication operator</a:t>
            </a:r>
          </a:p>
          <a:p>
            <a:pPr marL="0" indent="0">
              <a:buNone/>
            </a:pPr>
            <a:r>
              <a:rPr lang="en-IN" dirty="0" smtClean="0">
                <a:solidFill>
                  <a:schemeClr val="bg2"/>
                </a:solidFill>
                <a:latin typeface="Constantia" panose="02030602050306030303" pitchFamily="18" charset="0"/>
              </a:rPr>
              <a:t>  power = voltage * current</a:t>
            </a:r>
          </a:p>
          <a:p>
            <a:pPr marL="0" indent="0">
              <a:buNone/>
            </a:pPr>
            <a:endParaRPr lang="en-IN" dirty="0" smtClean="0">
              <a:solidFill>
                <a:schemeClr val="bg2"/>
              </a:solidFill>
              <a:latin typeface="Constantia" panose="02030602050306030303" pitchFamily="18" charset="0"/>
            </a:endParaRPr>
          </a:p>
          <a:p>
            <a:pPr marL="0" indent="0">
              <a:buNone/>
            </a:pPr>
            <a:r>
              <a:rPr lang="en-IN" dirty="0" smtClean="0">
                <a:solidFill>
                  <a:schemeClr val="bg2"/>
                </a:solidFill>
                <a:latin typeface="Constantia" panose="02030602050306030303" pitchFamily="18" charset="0"/>
              </a:rPr>
              <a:t>• = → Assignment operator</a:t>
            </a:r>
          </a:p>
          <a:p>
            <a:pPr marL="0" indent="0">
              <a:buNone/>
            </a:pPr>
            <a:r>
              <a:rPr lang="en-IN" dirty="0" smtClean="0">
                <a:solidFill>
                  <a:schemeClr val="bg2"/>
                </a:solidFill>
                <a:latin typeface="Constantia" panose="02030602050306030303" pitchFamily="18" charset="0"/>
              </a:rPr>
              <a:t>  energy = power * 1</a:t>
            </a:r>
          </a:p>
          <a:p>
            <a:pPr marL="0" indent="0">
              <a:buNone/>
            </a:pPr>
            <a:endParaRPr lang="en-IN" dirty="0" smtClean="0">
              <a:solidFill>
                <a:schemeClr val="bg2"/>
              </a:solidFill>
              <a:latin typeface="Constantia" panose="02030602050306030303" pitchFamily="18" charset="0"/>
            </a:endParaRPr>
          </a:p>
          <a:p>
            <a:pPr marL="0" indent="0">
              <a:buNone/>
            </a:pPr>
            <a:r>
              <a:rPr lang="en-IN" dirty="0" smtClean="0">
                <a:solidFill>
                  <a:schemeClr val="bg2"/>
                </a:solidFill>
                <a:latin typeface="Constantia" panose="02030602050306030303" pitchFamily="18" charset="0"/>
              </a:rPr>
              <a:t>• double → Decimal data type</a:t>
            </a:r>
          </a:p>
          <a:p>
            <a:pPr marL="0" indent="0">
              <a:buNone/>
            </a:pPr>
            <a:r>
              <a:rPr lang="en-IN" dirty="0" smtClean="0">
                <a:solidFill>
                  <a:schemeClr val="bg2"/>
                </a:solidFill>
                <a:latin typeface="Constantia" panose="02030602050306030303" pitchFamily="18" charset="0"/>
              </a:rPr>
              <a:t>• voltage * current → Power calculation</a:t>
            </a:r>
          </a:p>
          <a:p>
            <a:pPr marL="0" indent="0">
              <a:buNone/>
            </a:pPr>
            <a:r>
              <a:rPr lang="en-IN" dirty="0" smtClean="0">
                <a:solidFill>
                  <a:schemeClr val="bg2"/>
                </a:solidFill>
                <a:latin typeface="Constantia" panose="02030602050306030303" pitchFamily="18" charset="0"/>
              </a:rPr>
              <a:t>• power * 1 → Energy calculation</a:t>
            </a:r>
            <a:endParaRPr lang="en-IN" dirty="0">
              <a:solidFill>
                <a:schemeClr val="bg2"/>
              </a:solidFill>
              <a:latin typeface="Constantia" panose="02030602050306030303" pitchFamily="18" charset="0"/>
            </a:endParaRPr>
          </a:p>
        </p:txBody>
      </p:sp>
      <p:sp>
        <p:nvSpPr>
          <p:cNvPr id="2" name="TextBox 1">
            <a:extLst>
              <a:ext uri="{FF2B5EF4-FFF2-40B4-BE49-F238E27FC236}">
                <a16:creationId xmlns:a16="http://schemas.microsoft.com/office/drawing/2014/main" xmlns="" id="{4987624C-5F7F-02B7-B7FC-02754E53A13A}"/>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spTree>
    <p:extLst>
      <p:ext uri="{BB962C8B-B14F-4D97-AF65-F5344CB8AC3E}">
        <p14:creationId xmlns:p14="http://schemas.microsoft.com/office/powerpoint/2010/main" xmlns="" val="1870863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A9808389-235B-DFF4-0823-CA955CC6860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B9A844F0-A97B-F9B3-B228-CBE4D09069BE}"/>
              </a:ext>
            </a:extLst>
          </p:cNvPr>
          <p:cNvSpPr>
            <a:spLocks noGrp="1"/>
          </p:cNvSpPr>
          <p:nvPr>
            <p:ph type="title"/>
          </p:nvPr>
        </p:nvSpPr>
        <p:spPr/>
        <p:txBody>
          <a:bodyPr/>
          <a:lstStyle/>
          <a:p>
            <a:r>
              <a:rPr lang="en-IN" dirty="0">
                <a:solidFill>
                  <a:schemeClr val="bg2"/>
                </a:solidFill>
                <a:latin typeface="Lucida Bright" panose="02040602050505020304" pitchFamily="18" charset="0"/>
              </a:rPr>
              <a:t>Course Outcome - 3</a:t>
            </a:r>
          </a:p>
        </p:txBody>
      </p:sp>
      <p:sp>
        <p:nvSpPr>
          <p:cNvPr id="9" name="Content Placeholder 8">
            <a:extLst>
              <a:ext uri="{FF2B5EF4-FFF2-40B4-BE49-F238E27FC236}">
                <a16:creationId xmlns:a16="http://schemas.microsoft.com/office/drawing/2014/main" xmlns="" id="{47215B7A-7A20-83F5-0D3F-D783A689626C}"/>
              </a:ext>
            </a:extLst>
          </p:cNvPr>
          <p:cNvSpPr>
            <a:spLocks noGrp="1"/>
          </p:cNvSpPr>
          <p:nvPr>
            <p:ph idx="1"/>
          </p:nvPr>
        </p:nvSpPr>
        <p:spPr>
          <a:xfrm>
            <a:off x="838200" y="1447800"/>
            <a:ext cx="10515600" cy="4729163"/>
          </a:xfrm>
        </p:spPr>
        <p:txBody>
          <a:bodyPr>
            <a:normAutofit/>
          </a:bodyPr>
          <a:lstStyle/>
          <a:p>
            <a:pPr marL="0" indent="0">
              <a:buNone/>
            </a:pPr>
            <a:r>
              <a:rPr lang="en-IN" dirty="0" smtClean="0">
                <a:solidFill>
                  <a:schemeClr val="bg2"/>
                </a:solidFill>
                <a:latin typeface="Constantia" panose="02030602050306030303" pitchFamily="18" charset="0"/>
              </a:rPr>
              <a:t>CO3 — Object-Oriented Programming concepts</a:t>
            </a:r>
          </a:p>
          <a:p>
            <a:pPr marL="0" indent="0">
              <a:buNone/>
            </a:pPr>
            <a:endParaRPr lang="en-IN" dirty="0" smtClean="0">
              <a:solidFill>
                <a:schemeClr val="bg2"/>
              </a:solidFill>
              <a:latin typeface="Constantia" panose="02030602050306030303" pitchFamily="18" charset="0"/>
            </a:endParaRPr>
          </a:p>
          <a:p>
            <a:pPr marL="0" indent="0">
              <a:buNone/>
            </a:pPr>
            <a:r>
              <a:rPr lang="en-IN" dirty="0" smtClean="0">
                <a:solidFill>
                  <a:schemeClr val="bg2"/>
                </a:solidFill>
                <a:latin typeface="Constantia" panose="02030602050306030303" pitchFamily="18" charset="0"/>
              </a:rPr>
              <a:t>• public class </a:t>
            </a:r>
            <a:r>
              <a:rPr lang="en-IN" dirty="0" err="1" smtClean="0">
                <a:solidFill>
                  <a:schemeClr val="bg2"/>
                </a:solidFill>
                <a:latin typeface="Constantia" panose="02030602050306030303" pitchFamily="18" charset="0"/>
              </a:rPr>
              <a:t>SolarEnergyMonitor</a:t>
            </a:r>
            <a:r>
              <a:rPr lang="en-IN" dirty="0" smtClean="0">
                <a:solidFill>
                  <a:schemeClr val="bg2"/>
                </a:solidFill>
                <a:latin typeface="Constantia" panose="02030602050306030303" pitchFamily="18" charset="0"/>
              </a:rPr>
              <a:t> → Class</a:t>
            </a:r>
          </a:p>
          <a:p>
            <a:pPr marL="0" indent="0">
              <a:buNone/>
            </a:pPr>
            <a:r>
              <a:rPr lang="en-IN" dirty="0" smtClean="0">
                <a:solidFill>
                  <a:schemeClr val="bg2"/>
                </a:solidFill>
                <a:latin typeface="Constantia" panose="02030602050306030303" pitchFamily="18" charset="0"/>
              </a:rPr>
              <a:t>• Scanner sc = new Scanner(</a:t>
            </a:r>
            <a:r>
              <a:rPr lang="en-IN" dirty="0" err="1" smtClean="0">
                <a:solidFill>
                  <a:schemeClr val="bg2"/>
                </a:solidFill>
                <a:latin typeface="Constantia" panose="02030602050306030303" pitchFamily="18" charset="0"/>
              </a:rPr>
              <a:t>System.in</a:t>
            </a:r>
            <a:r>
              <a:rPr lang="en-IN" dirty="0" smtClean="0">
                <a:solidFill>
                  <a:schemeClr val="bg2"/>
                </a:solidFill>
                <a:latin typeface="Constantia" panose="02030602050306030303" pitchFamily="18" charset="0"/>
              </a:rPr>
              <a:t>) → Object creation</a:t>
            </a:r>
          </a:p>
          <a:p>
            <a:pPr marL="0" indent="0">
              <a:buNone/>
            </a:pPr>
            <a:r>
              <a:rPr lang="en-IN" dirty="0" smtClean="0">
                <a:solidFill>
                  <a:schemeClr val="bg2"/>
                </a:solidFill>
                <a:latin typeface="Constantia" panose="02030602050306030303" pitchFamily="18" charset="0"/>
              </a:rPr>
              <a:t>• main() → Method</a:t>
            </a:r>
          </a:p>
          <a:p>
            <a:pPr marL="0" indent="0">
              <a:buNone/>
            </a:pPr>
            <a:r>
              <a:rPr lang="en-IN" dirty="0" smtClean="0">
                <a:solidFill>
                  <a:schemeClr val="bg2"/>
                </a:solidFill>
                <a:latin typeface="Constantia" panose="02030602050306030303" pitchFamily="18" charset="0"/>
              </a:rPr>
              <a:t>• </a:t>
            </a:r>
            <a:r>
              <a:rPr lang="en-IN" dirty="0" err="1" smtClean="0">
                <a:solidFill>
                  <a:schemeClr val="bg2"/>
                </a:solidFill>
                <a:latin typeface="Constantia" panose="02030602050306030303" pitchFamily="18" charset="0"/>
              </a:rPr>
              <a:t>SolarEnergyMonitor</a:t>
            </a:r>
            <a:r>
              <a:rPr lang="en-IN" dirty="0" smtClean="0">
                <a:solidFill>
                  <a:schemeClr val="bg2"/>
                </a:solidFill>
                <a:latin typeface="Constantia" panose="02030602050306030303" pitchFamily="18" charset="0"/>
              </a:rPr>
              <a:t> → Class name</a:t>
            </a:r>
          </a:p>
          <a:p>
            <a:pPr marL="0" indent="0">
              <a:buNone/>
            </a:pPr>
            <a:r>
              <a:rPr lang="en-IN" dirty="0" smtClean="0">
                <a:solidFill>
                  <a:schemeClr val="bg2"/>
                </a:solidFill>
                <a:latin typeface="Constantia" panose="02030602050306030303" pitchFamily="18" charset="0"/>
              </a:rPr>
              <a:t>• Scanner → Predefined Java class</a:t>
            </a:r>
          </a:p>
          <a:p>
            <a:pPr marL="0" indent="0">
              <a:buNone/>
            </a:pPr>
            <a:r>
              <a:rPr lang="en-IN" dirty="0" smtClean="0">
                <a:solidFill>
                  <a:schemeClr val="bg2"/>
                </a:solidFill>
                <a:latin typeface="Constantia" panose="02030602050306030303" pitchFamily="18" charset="0"/>
              </a:rPr>
              <a:t>• new Scanner(</a:t>
            </a:r>
            <a:r>
              <a:rPr lang="en-IN" dirty="0" err="1" smtClean="0">
                <a:solidFill>
                  <a:schemeClr val="bg2"/>
                </a:solidFill>
                <a:latin typeface="Constantia" panose="02030602050306030303" pitchFamily="18" charset="0"/>
              </a:rPr>
              <a:t>System.in</a:t>
            </a:r>
            <a:r>
              <a:rPr lang="en-IN" dirty="0" smtClean="0">
                <a:solidFill>
                  <a:schemeClr val="bg2"/>
                </a:solidFill>
                <a:latin typeface="Constantia" panose="02030602050306030303" pitchFamily="18" charset="0"/>
              </a:rPr>
              <a:t>) → Creation of Scanner object</a:t>
            </a:r>
            <a:endParaRPr lang="en-IN" dirty="0">
              <a:solidFill>
                <a:schemeClr val="bg2"/>
              </a:solidFill>
              <a:latin typeface="Constantia" panose="02030602050306030303" pitchFamily="18" charset="0"/>
            </a:endParaRPr>
          </a:p>
        </p:txBody>
      </p:sp>
      <p:sp>
        <p:nvSpPr>
          <p:cNvPr id="2" name="TextBox 1">
            <a:extLst>
              <a:ext uri="{FF2B5EF4-FFF2-40B4-BE49-F238E27FC236}">
                <a16:creationId xmlns:a16="http://schemas.microsoft.com/office/drawing/2014/main" xmlns="" id="{5A93D3CF-B00C-82E1-3E12-5D7B5542F490}"/>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spTree>
    <p:extLst>
      <p:ext uri="{BB962C8B-B14F-4D97-AF65-F5344CB8AC3E}">
        <p14:creationId xmlns:p14="http://schemas.microsoft.com/office/powerpoint/2010/main" xmlns="" val="347296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90000"/>
                <a:lumOff val="10000"/>
              </a:schemeClr>
            </a:gs>
            <a:gs pos="74000">
              <a:schemeClr val="tx2">
                <a:lumMod val="90000"/>
                <a:lumOff val="10000"/>
              </a:schemeClr>
            </a:gs>
            <a:gs pos="83000">
              <a:schemeClr val="tx2">
                <a:lumMod val="90000"/>
                <a:lumOff val="10000"/>
              </a:schemeClr>
            </a:gs>
            <a:gs pos="100000">
              <a:schemeClr val="tx2">
                <a:lumMod val="90000"/>
                <a:lumOff val="10000"/>
              </a:schemeClr>
            </a:gs>
          </a:gsLst>
          <a:lin ang="5400000" scaled="1"/>
          <a:tileRect/>
        </a:gradFill>
        <a:effectLst/>
      </p:bgPr>
    </p:bg>
    <p:spTree>
      <p:nvGrpSpPr>
        <p:cNvPr id="1" name="">
          <a:extLst>
            <a:ext uri="{FF2B5EF4-FFF2-40B4-BE49-F238E27FC236}">
              <a16:creationId xmlns:a16="http://schemas.microsoft.com/office/drawing/2014/main" xmlns="" id="{56CA5DAD-3A71-545D-7869-6EAC4C0FE5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15B86998-891C-5460-BB0B-5C4C2841EB1F}"/>
              </a:ext>
            </a:extLst>
          </p:cNvPr>
          <p:cNvSpPr>
            <a:spLocks noGrp="1"/>
          </p:cNvSpPr>
          <p:nvPr>
            <p:ph type="title"/>
          </p:nvPr>
        </p:nvSpPr>
        <p:spPr/>
        <p:txBody>
          <a:bodyPr/>
          <a:lstStyle/>
          <a:p>
            <a:r>
              <a:rPr lang="en-IN" dirty="0">
                <a:solidFill>
                  <a:schemeClr val="bg2"/>
                </a:solidFill>
                <a:latin typeface="Lucida Bright" panose="02040602050505020304" pitchFamily="18" charset="0"/>
              </a:rPr>
              <a:t>GitHub Link:</a:t>
            </a:r>
          </a:p>
        </p:txBody>
      </p:sp>
      <p:sp>
        <p:nvSpPr>
          <p:cNvPr id="9" name="Content Placeholder 8">
            <a:extLst>
              <a:ext uri="{FF2B5EF4-FFF2-40B4-BE49-F238E27FC236}">
                <a16:creationId xmlns:a16="http://schemas.microsoft.com/office/drawing/2014/main" xmlns="" id="{AB39E4D2-0FC4-8AE6-E83E-53D9B109B9E8}"/>
              </a:ext>
            </a:extLst>
          </p:cNvPr>
          <p:cNvSpPr>
            <a:spLocks noGrp="1"/>
          </p:cNvSpPr>
          <p:nvPr>
            <p:ph idx="1"/>
          </p:nvPr>
        </p:nvSpPr>
        <p:spPr>
          <a:xfrm>
            <a:off x="838200" y="1447800"/>
            <a:ext cx="10515600" cy="4729163"/>
          </a:xfrm>
        </p:spPr>
        <p:txBody>
          <a:bodyPr>
            <a:normAutofit/>
          </a:bodyPr>
          <a:lstStyle/>
          <a:p>
            <a:pPr marL="0" indent="0">
              <a:buNone/>
            </a:pPr>
            <a:r>
              <a:rPr lang="en-IN" dirty="0">
                <a:solidFill>
                  <a:schemeClr val="bg2"/>
                </a:solidFill>
                <a:latin typeface="Constantia" panose="02030602050306030303" pitchFamily="18" charset="0"/>
              </a:rPr>
              <a:t>Jovika Pokkula: </a:t>
            </a:r>
          </a:p>
          <a:p>
            <a:pPr marL="0" indent="0">
              <a:buNone/>
            </a:pPr>
            <a:r>
              <a:rPr lang="en-IN" dirty="0">
                <a:solidFill>
                  <a:schemeClr val="bg2"/>
                </a:solidFill>
                <a:latin typeface="Constantia" panose="02030602050306030303" pitchFamily="18" charset="0"/>
                <a:hlinkClick r:id="rId2" action="ppaction://hlinksldjump"/>
              </a:rPr>
              <a:t>GitHub Link:</a:t>
            </a:r>
            <a:r>
              <a:rPr lang="en-IN" dirty="0">
                <a:solidFill>
                  <a:schemeClr val="bg2"/>
                </a:solidFill>
                <a:latin typeface="Constantia" panose="02030602050306030303" pitchFamily="18" charset="0"/>
              </a:rPr>
              <a:t> </a:t>
            </a:r>
            <a:r>
              <a:rPr lang="en-IN" dirty="0">
                <a:solidFill>
                  <a:schemeClr val="bg2"/>
                </a:solidFill>
                <a:latin typeface="Constantia" panose="02030602050306030303" pitchFamily="18" charset="0"/>
                <a:hlinkClick r:id="rId3"/>
              </a:rPr>
              <a:t>https://github.com/jovikapokkula-dot</a:t>
            </a:r>
            <a:endParaRPr lang="en-IN" dirty="0">
              <a:solidFill>
                <a:schemeClr val="bg2"/>
              </a:solidFill>
              <a:latin typeface="Constantia" panose="02030602050306030303" pitchFamily="18" charset="0"/>
            </a:endParaRPr>
          </a:p>
          <a:p>
            <a:pPr marL="0" indent="0">
              <a:buNone/>
            </a:pPr>
            <a:r>
              <a:rPr lang="en-IN" dirty="0">
                <a:solidFill>
                  <a:schemeClr val="bg2"/>
                </a:solidFill>
                <a:latin typeface="Constantia" panose="02030602050306030303" pitchFamily="18" charset="0"/>
              </a:rPr>
              <a:t>K. Spoorthy:</a:t>
            </a:r>
          </a:p>
          <a:p>
            <a:pPr marL="0" indent="0">
              <a:buNone/>
            </a:pPr>
            <a:endParaRPr lang="en-IN" dirty="0">
              <a:solidFill>
                <a:schemeClr val="bg2"/>
              </a:solidFill>
              <a:latin typeface="Constantia" panose="02030602050306030303" pitchFamily="18" charset="0"/>
            </a:endParaRPr>
          </a:p>
          <a:p>
            <a:pPr marL="0" indent="0">
              <a:buNone/>
            </a:pPr>
            <a:r>
              <a:rPr lang="en-IN" dirty="0">
                <a:solidFill>
                  <a:schemeClr val="bg2"/>
                </a:solidFill>
                <a:latin typeface="Constantia" panose="02030602050306030303" pitchFamily="18" charset="0"/>
              </a:rPr>
              <a:t>P.Laxmi Sahasra:</a:t>
            </a:r>
          </a:p>
        </p:txBody>
      </p:sp>
      <p:sp>
        <p:nvSpPr>
          <p:cNvPr id="2" name="TextBox 1">
            <a:extLst>
              <a:ext uri="{FF2B5EF4-FFF2-40B4-BE49-F238E27FC236}">
                <a16:creationId xmlns:a16="http://schemas.microsoft.com/office/drawing/2014/main" xmlns="" id="{3A07619C-1240-8A56-5877-E20B16EFCFB2}"/>
              </a:ext>
            </a:extLst>
          </p:cNvPr>
          <p:cNvSpPr txBox="1"/>
          <p:nvPr/>
        </p:nvSpPr>
        <p:spPr>
          <a:xfrm>
            <a:off x="11593286" y="6302828"/>
            <a:ext cx="308098" cy="369332"/>
          </a:xfrm>
          <a:prstGeom prst="rect">
            <a:avLst/>
          </a:prstGeom>
          <a:noFill/>
        </p:spPr>
        <p:txBody>
          <a:bodyPr wrap="none" rtlCol="0">
            <a:spAutoFit/>
          </a:bodyPr>
          <a:lstStyle/>
          <a:p>
            <a:r>
              <a:rPr lang="en-IN" dirty="0">
                <a:solidFill>
                  <a:schemeClr val="bg2"/>
                </a:solidFill>
              </a:rPr>
              <a:t>3</a:t>
            </a:r>
          </a:p>
        </p:txBody>
      </p:sp>
    </p:spTree>
    <p:extLst>
      <p:ext uri="{BB962C8B-B14F-4D97-AF65-F5344CB8AC3E}">
        <p14:creationId xmlns:p14="http://schemas.microsoft.com/office/powerpoint/2010/main" xmlns="" val="515200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434</Words>
  <Application>Microsoft Office PowerPoint</Application>
  <PresentationFormat>Custom</PresentationFormat>
  <Paragraphs>64</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Rooftop Solar Energy Monitor</vt:lpstr>
      <vt:lpstr>ABSTRACT:</vt:lpstr>
      <vt:lpstr>ABSTRACT:</vt:lpstr>
      <vt:lpstr>Understanding Problem Statement:</vt:lpstr>
      <vt:lpstr>Course Outcome - 1</vt:lpstr>
      <vt:lpstr>Course Outcome - 2</vt:lpstr>
      <vt:lpstr>Course Outcome - 3</vt:lpstr>
      <vt:lpstr>GitHub Link:</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Rooftop Solar Energy Monitor</dc:title>
  <dc:creator>jovikapokkula@outlook.com</dc:creator>
  <cp:lastModifiedBy>LAXMAN</cp:lastModifiedBy>
  <cp:revision>6</cp:revision>
  <dcterms:created xsi:type="dcterms:W3CDTF">2026-09-21T14:27:26Z</dcterms:created>
  <dcterms:modified xsi:type="dcterms:W3CDTF">2026-09-22T06:10:02Z</dcterms:modified>
</cp:coreProperties>
</file>